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757" r:id="rId2"/>
    <p:sldId id="686" r:id="rId3"/>
    <p:sldId id="751" r:id="rId4"/>
    <p:sldId id="744" r:id="rId5"/>
    <p:sldId id="747" r:id="rId6"/>
    <p:sldId id="752" r:id="rId7"/>
    <p:sldId id="701" r:id="rId8"/>
    <p:sldId id="758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53" r:id="rId17"/>
    <p:sldId id="748" r:id="rId18"/>
    <p:sldId id="766" r:id="rId19"/>
    <p:sldId id="767" r:id="rId20"/>
    <p:sldId id="768" r:id="rId21"/>
    <p:sldId id="769" r:id="rId22"/>
    <p:sldId id="770" r:id="rId23"/>
    <p:sldId id="771" r:id="rId24"/>
    <p:sldId id="772" r:id="rId25"/>
    <p:sldId id="773" r:id="rId26"/>
    <p:sldId id="774" r:id="rId27"/>
    <p:sldId id="775" r:id="rId28"/>
    <p:sldId id="776" r:id="rId29"/>
    <p:sldId id="777" r:id="rId30"/>
    <p:sldId id="778" r:id="rId31"/>
    <p:sldId id="779" r:id="rId32"/>
    <p:sldId id="754" r:id="rId33"/>
    <p:sldId id="717" r:id="rId34"/>
    <p:sldId id="780" r:id="rId35"/>
    <p:sldId id="781" r:id="rId36"/>
    <p:sldId id="756" r:id="rId37"/>
  </p:sldIdLst>
  <p:sldSz cx="9144000" cy="5143500" type="screen16x9"/>
  <p:notesSz cx="6858000" cy="9144000"/>
  <p:custDataLst>
    <p:tags r:id="rId39"/>
  </p:custDataLst>
  <p:defaultTextStyle>
    <a:defPPr>
      <a:defRPr lang="zh-CN"/>
    </a:defPPr>
    <a:lvl1pPr marL="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81" userDrawn="1">
          <p15:clr>
            <a:srgbClr val="A4A3A4"/>
          </p15:clr>
        </p15:guide>
        <p15:guide id="8" pos="2880" userDrawn="1">
          <p15:clr>
            <a:srgbClr val="A4A3A4"/>
          </p15:clr>
        </p15:guide>
        <p15:guide id="9" pos="158" userDrawn="1">
          <p15:clr>
            <a:srgbClr val="A4A3A4"/>
          </p15:clr>
        </p15:guide>
        <p15:guide id="10" pos="5602" userDrawn="1">
          <p15:clr>
            <a:srgbClr val="A4A3A4"/>
          </p15:clr>
        </p15:guide>
        <p15:guide id="11" orient="horz" pos="1620" userDrawn="1">
          <p15:clr>
            <a:srgbClr val="A4A3A4"/>
          </p15:clr>
        </p15:guide>
        <p15:guide id="12" orient="horz" pos="2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C00000"/>
    <a:srgbClr val="2E1860"/>
    <a:srgbClr val="F03848"/>
    <a:srgbClr val="3624A6"/>
    <a:srgbClr val="FF7F2C"/>
    <a:srgbClr val="E81237"/>
    <a:srgbClr val="9E97D5"/>
    <a:srgbClr val="20C5EE"/>
    <a:srgbClr val="E81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424" autoAdjust="0"/>
  </p:normalViewPr>
  <p:slideViewPr>
    <p:cSldViewPr snapToGrid="0" showGuides="1">
      <p:cViewPr varScale="1">
        <p:scale>
          <a:sx n="105" d="100"/>
          <a:sy n="105" d="100"/>
        </p:scale>
        <p:origin x="456" y="72"/>
      </p:cViewPr>
      <p:guideLst>
        <p:guide orient="horz" pos="2981"/>
        <p:guide pos="2880"/>
        <p:guide pos="158"/>
        <p:guide pos="5602"/>
        <p:guide orient="horz" pos="1620"/>
        <p:guide orient="horz" pos="2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99EB-6B6F-4303-84E5-698CBBF28AE0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5E53-1996-4A18-8378-BCF5C804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55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178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248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372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E81C92-FB04-4531-AA7B-867E9634CAD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364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122FCD-D91D-46F2-8E76-189CEAAA28E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867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062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41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697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296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524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184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443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017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680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592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142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685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540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942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244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7581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429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504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0241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733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3966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790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6737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3071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9391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7CC4D-42E9-4616-886B-F6F5E388682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5074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1668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4876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8394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7125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42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4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656035" y="1168004"/>
            <a:ext cx="2328863" cy="3563540"/>
          </a:xfrm>
          <a:custGeom>
            <a:avLst/>
            <a:gdLst>
              <a:gd name="connsiteX0" fmla="*/ 0 w 3105150"/>
              <a:gd name="connsiteY0" fmla="*/ 0 h 4751387"/>
              <a:gd name="connsiteX1" fmla="*/ 3105150 w 3105150"/>
              <a:gd name="connsiteY1" fmla="*/ 0 h 4751387"/>
              <a:gd name="connsiteX2" fmla="*/ 3105150 w 3105150"/>
              <a:gd name="connsiteY2" fmla="*/ 4751387 h 4751387"/>
              <a:gd name="connsiteX3" fmla="*/ 0 w 3105150"/>
              <a:gd name="connsiteY3" fmla="*/ 4751387 h 475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150" h="4751387">
                <a:moveTo>
                  <a:pt x="0" y="0"/>
                </a:moveTo>
                <a:lnTo>
                  <a:pt x="3105150" y="0"/>
                </a:lnTo>
                <a:lnTo>
                  <a:pt x="3105150" y="4751387"/>
                </a:lnTo>
                <a:lnTo>
                  <a:pt x="0" y="47513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3056336" y="1168003"/>
            <a:ext cx="1791679" cy="1745051"/>
          </a:xfrm>
          <a:custGeom>
            <a:avLst/>
            <a:gdLst>
              <a:gd name="connsiteX0" fmla="*/ 0 w 2388905"/>
              <a:gd name="connsiteY0" fmla="*/ 0 h 2326734"/>
              <a:gd name="connsiteX1" fmla="*/ 2388905 w 2388905"/>
              <a:gd name="connsiteY1" fmla="*/ 0 h 2326734"/>
              <a:gd name="connsiteX2" fmla="*/ 2388905 w 2388905"/>
              <a:gd name="connsiteY2" fmla="*/ 2326734 h 2326734"/>
              <a:gd name="connsiteX3" fmla="*/ 0 w 2388905"/>
              <a:gd name="connsiteY3" fmla="*/ 2326734 h 232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8905" h="2326734">
                <a:moveTo>
                  <a:pt x="0" y="0"/>
                </a:moveTo>
                <a:lnTo>
                  <a:pt x="2388905" y="0"/>
                </a:lnTo>
                <a:lnTo>
                  <a:pt x="2388905" y="2326734"/>
                </a:lnTo>
                <a:lnTo>
                  <a:pt x="0" y="23267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3056336" y="2986493"/>
            <a:ext cx="1791679" cy="1745051"/>
          </a:xfrm>
          <a:custGeom>
            <a:avLst/>
            <a:gdLst>
              <a:gd name="connsiteX0" fmla="*/ 0 w 2388905"/>
              <a:gd name="connsiteY0" fmla="*/ 0 h 2326734"/>
              <a:gd name="connsiteX1" fmla="*/ 2388905 w 2388905"/>
              <a:gd name="connsiteY1" fmla="*/ 0 h 2326734"/>
              <a:gd name="connsiteX2" fmla="*/ 2388905 w 2388905"/>
              <a:gd name="connsiteY2" fmla="*/ 2326734 h 2326734"/>
              <a:gd name="connsiteX3" fmla="*/ 0 w 2388905"/>
              <a:gd name="connsiteY3" fmla="*/ 2326734 h 232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8905" h="2326734">
                <a:moveTo>
                  <a:pt x="0" y="0"/>
                </a:moveTo>
                <a:lnTo>
                  <a:pt x="2388905" y="0"/>
                </a:lnTo>
                <a:lnTo>
                  <a:pt x="2388905" y="2326734"/>
                </a:lnTo>
                <a:lnTo>
                  <a:pt x="0" y="23267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909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442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20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76" tIns="34289" rIns="68576" bIns="34289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76" tIns="34289" rIns="68576" bIns="34289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Source Han Sans Normal" panose="020B0400000000000000" pitchFamily="34" charset="-122"/>
                <a:cs typeface="Arial" panose="020B0604020202020204" pitchFamily="34" charset="0"/>
              </a:defRPr>
            </a:lvl1pPr>
          </a:lstStyle>
          <a:p>
            <a:fld id="{4DA96E64-783D-463C-BA44-F5AF67B46485}" type="datetimeFigureOut">
              <a:rPr lang="zh-CN" altLang="en-US" smtClean="0"/>
              <a:pPr/>
              <a:t>2025/12/21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Source Han Sans Normal" panose="020B0400000000000000" pitchFamily="34" charset="-122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Source Han Sans Normal" panose="020B0400000000000000" pitchFamily="34" charset="-122"/>
                <a:cs typeface="Arial" panose="020B0604020202020204" pitchFamily="34" charset="0"/>
              </a:defRPr>
            </a:lvl1pPr>
          </a:lstStyle>
          <a:p>
            <a:fld id="{A8C676CA-DACA-4216-AE75-62203F83776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xStyles>
    <p:titleStyle>
      <a:lvl1pPr algn="l" defTabSz="685165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Source Han Sans Normal" panose="020B0400000000000000" pitchFamily="34" charset="-122"/>
          <a:cs typeface="Arial" panose="020B0604020202020204" pitchFamily="34" charset="0"/>
        </a:defRPr>
      </a:lvl1pPr>
    </p:titleStyle>
    <p:bodyStyle>
      <a:lvl1pPr marL="171450" indent="-171450" algn="l" defTabSz="68516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Source Han Sans Normal" panose="020B0400000000000000" pitchFamily="34" charset="-122"/>
          <a:cs typeface="Arial" panose="020B0604020202020204" pitchFamily="34" charset="0"/>
        </a:defRPr>
      </a:lvl1pPr>
      <a:lvl2pPr marL="5143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Source Han Sans Normal" panose="020B0400000000000000" pitchFamily="34" charset="-122"/>
          <a:cs typeface="Arial" panose="020B0604020202020204" pitchFamily="34" charset="0"/>
        </a:defRPr>
      </a:lvl2pPr>
      <a:lvl3pPr marL="8572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Source Han Sans Normal" panose="020B0400000000000000" pitchFamily="34" charset="-122"/>
          <a:cs typeface="Arial" panose="020B0604020202020204" pitchFamily="34" charset="0"/>
        </a:defRPr>
      </a:lvl3pPr>
      <a:lvl4pPr marL="12001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Source Han Sans Normal" panose="020B0400000000000000" pitchFamily="34" charset="-122"/>
          <a:cs typeface="Arial" panose="020B0604020202020204" pitchFamily="34" charset="0"/>
        </a:defRPr>
      </a:lvl4pPr>
      <a:lvl5pPr marL="15430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Source Han Sans Normal" panose="020B0400000000000000" pitchFamily="34" charset="-122"/>
          <a:cs typeface="Arial" panose="020B0604020202020204" pitchFamily="34" charset="0"/>
        </a:defRPr>
      </a:lvl5pPr>
      <a:lvl6pPr marL="18859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849310"/>
            <a:ext cx="9144000" cy="15320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96"/>
          </a:p>
        </p:txBody>
      </p: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1265618" y="2219483"/>
            <a:ext cx="661276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Ebrima" panose="02000000000000000000" pitchFamily="2" charset="0"/>
                <a:sym typeface="微软雅黑" panose="020B0503020204020204" pitchFamily="34" charset="-122"/>
              </a:rPr>
              <a:t>医院挂号系统概要设计</a:t>
            </a: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788445" y="3883263"/>
            <a:ext cx="1567110" cy="236366"/>
          </a:xfrm>
          <a:prstGeom prst="rect">
            <a:avLst/>
          </a:prstGeom>
          <a:solidFill>
            <a:srgbClr val="C00000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square" lIns="25600" tIns="25600" rIns="25600" bIns="2560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汇报小组：第四小组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348" y="453903"/>
            <a:ext cx="1149304" cy="114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803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5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4" grpId="1"/>
      <p:bldP spid="15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50824" y="411163"/>
            <a:ext cx="3565091" cy="4321176"/>
            <a:chOff x="0" y="0"/>
            <a:chExt cx="3815916" cy="5143500"/>
          </a:xfrm>
          <a:solidFill>
            <a:srgbClr val="002060"/>
          </a:solidFill>
        </p:grpSpPr>
        <p:sp>
          <p:nvSpPr>
            <p:cNvPr id="26" name="矩形 25"/>
            <p:cNvSpPr/>
            <p:nvPr/>
          </p:nvSpPr>
          <p:spPr>
            <a:xfrm>
              <a:off x="0" y="0"/>
              <a:ext cx="3563888" cy="5143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3271535" y="2319722"/>
              <a:ext cx="584705" cy="50405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4861363" y="1238710"/>
            <a:ext cx="1201652" cy="40451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6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TextBox 64"/>
          <p:cNvSpPr txBox="1"/>
          <p:nvPr/>
        </p:nvSpPr>
        <p:spPr>
          <a:xfrm>
            <a:off x="4861363" y="1248891"/>
            <a:ext cx="1358462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en-US" altLang="zh-CN" sz="2000" b="1" dirty="0">
                <a:solidFill>
                  <a:schemeClr val="bg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PART 01</a:t>
            </a:r>
            <a:endParaRPr lang="zh-CN" altLang="en-US" sz="2000" b="1" dirty="0">
              <a:solidFill>
                <a:schemeClr val="bg1"/>
              </a:solidFill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850721" y="1842157"/>
            <a:ext cx="1213348" cy="40451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6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" name="TextBox 64"/>
          <p:cNvSpPr txBox="1"/>
          <p:nvPr/>
        </p:nvSpPr>
        <p:spPr>
          <a:xfrm>
            <a:off x="4861363" y="1861351"/>
            <a:ext cx="126923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en-US" altLang="zh-CN" sz="2000" b="1" dirty="0">
                <a:solidFill>
                  <a:schemeClr val="bg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PART 02</a:t>
            </a:r>
            <a:endParaRPr lang="zh-CN" altLang="en-US" sz="2000" b="1" dirty="0">
              <a:solidFill>
                <a:schemeClr val="bg1"/>
              </a:solidFill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850721" y="2445604"/>
            <a:ext cx="1213348" cy="40451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6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8" name="TextBox 64"/>
          <p:cNvSpPr txBox="1"/>
          <p:nvPr/>
        </p:nvSpPr>
        <p:spPr>
          <a:xfrm>
            <a:off x="4861363" y="2464798"/>
            <a:ext cx="1182320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en-US" altLang="zh-CN" sz="2000" b="1" dirty="0">
                <a:solidFill>
                  <a:schemeClr val="bg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PART 03</a:t>
            </a:r>
            <a:endParaRPr lang="zh-CN" altLang="en-US" sz="2000" b="1" dirty="0">
              <a:solidFill>
                <a:schemeClr val="bg1"/>
              </a:solidFill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850721" y="3029857"/>
            <a:ext cx="1213348" cy="40451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6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2" name="TextBox 64"/>
          <p:cNvSpPr txBox="1"/>
          <p:nvPr/>
        </p:nvSpPr>
        <p:spPr>
          <a:xfrm>
            <a:off x="4861363" y="3049051"/>
            <a:ext cx="126923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en-US" altLang="zh-CN" sz="2000" b="1" dirty="0">
                <a:solidFill>
                  <a:schemeClr val="bg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PART 04</a:t>
            </a:r>
            <a:endParaRPr lang="zh-CN" altLang="en-US" sz="2000" b="1" dirty="0">
              <a:solidFill>
                <a:schemeClr val="bg1"/>
              </a:solidFill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TextBox 5"/>
          <p:cNvSpPr txBox="1"/>
          <p:nvPr/>
        </p:nvSpPr>
        <p:spPr>
          <a:xfrm>
            <a:off x="577024" y="1957356"/>
            <a:ext cx="2718032" cy="1177245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pPr algn="ctr"/>
            <a:r>
              <a:rPr lang="zh-CN" altLang="en-US" sz="7200" spc="-300" dirty="0">
                <a:solidFill>
                  <a:schemeClr val="bg1"/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  <a:cs typeface="Ebrima" panose="02000000000000000000" pitchFamily="2" charset="0"/>
                <a:sym typeface="微软雅黑" panose="020B0503020204020204" pitchFamily="34" charset="-122"/>
              </a:rPr>
              <a:t>目录</a:t>
            </a:r>
            <a:endParaRPr lang="zh-CN" altLang="en-US" sz="8000" spc="-300" dirty="0">
              <a:solidFill>
                <a:schemeClr val="bg1"/>
              </a:solidFill>
              <a:effectLst/>
              <a:latin typeface="思源黑体 CN Bold" panose="020B0800000000000000" pitchFamily="34" charset="-122"/>
              <a:ea typeface="思源黑体 CN Bold" panose="020B0800000000000000" pitchFamily="34" charset="-122"/>
              <a:cs typeface="Ebrima" panose="02000000000000000000" pitchFamily="2" charset="0"/>
              <a:sym typeface="微软雅黑" panose="020B0503020204020204" pitchFamily="34" charset="-122"/>
            </a:endParaRPr>
          </a:p>
        </p:txBody>
      </p:sp>
      <p:sp>
        <p:nvSpPr>
          <p:cNvPr id="20" name="TextBox 5"/>
          <p:cNvSpPr txBox="1"/>
          <p:nvPr/>
        </p:nvSpPr>
        <p:spPr>
          <a:xfrm>
            <a:off x="925259" y="3094779"/>
            <a:ext cx="2162421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Source Han Sans Bold" panose="020B0800000000000000" pitchFamily="34" charset="-122"/>
                <a:ea typeface="Source Han Sans Bold" panose="020B0800000000000000" pitchFamily="34" charset="-122"/>
                <a:cs typeface="Ebrima" panose="02000000000000000000" pitchFamily="2" charset="0"/>
                <a:sym typeface="微软雅黑" panose="020B0503020204020204" pitchFamily="34" charset="-122"/>
              </a:rPr>
              <a:t>CONTENTS</a:t>
            </a:r>
            <a:endParaRPr lang="zh-CN" altLang="en-US" sz="2800" dirty="0">
              <a:solidFill>
                <a:schemeClr val="bg1"/>
              </a:solidFill>
              <a:latin typeface="Source Han Sans Bold" panose="020B0800000000000000" pitchFamily="34" charset="-122"/>
              <a:ea typeface="Source Han Sans Bold" panose="020B0800000000000000" pitchFamily="34" charset="-122"/>
              <a:cs typeface="Ebrima" panose="02000000000000000000" pitchFamily="2" charset="0"/>
              <a:sym typeface="微软雅黑" panose="020B0503020204020204" pitchFamily="34" charset="-122"/>
            </a:endParaRPr>
          </a:p>
        </p:txBody>
      </p:sp>
      <p:sp>
        <p:nvSpPr>
          <p:cNvPr id="17" name="TextBox 64"/>
          <p:cNvSpPr txBox="1"/>
          <p:nvPr/>
        </p:nvSpPr>
        <p:spPr>
          <a:xfrm>
            <a:off x="6105260" y="1237792"/>
            <a:ext cx="2223351" cy="4078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en-US" altLang="zh-CN" sz="2200" b="1" dirty="0">
                <a:solidFill>
                  <a:schemeClr val="tx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E-R</a:t>
            </a:r>
            <a:r>
              <a:rPr lang="zh-CN" altLang="en-US" sz="2200" b="1" dirty="0">
                <a:solidFill>
                  <a:schemeClr val="tx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图、关系模式</a:t>
            </a:r>
          </a:p>
        </p:txBody>
      </p:sp>
      <p:sp>
        <p:nvSpPr>
          <p:cNvPr id="18" name="TextBox 64"/>
          <p:cNvSpPr txBox="1"/>
          <p:nvPr/>
        </p:nvSpPr>
        <p:spPr>
          <a:xfrm>
            <a:off x="6105260" y="1848457"/>
            <a:ext cx="1463542" cy="4078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zh-CN" altLang="en-US" sz="2200" b="1" dirty="0">
                <a:solidFill>
                  <a:schemeClr val="tx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</a:p>
        </p:txBody>
      </p:sp>
      <p:sp>
        <p:nvSpPr>
          <p:cNvPr id="21" name="TextBox 64"/>
          <p:cNvSpPr txBox="1"/>
          <p:nvPr/>
        </p:nvSpPr>
        <p:spPr>
          <a:xfrm>
            <a:off x="6105259" y="2448871"/>
            <a:ext cx="1543679" cy="4078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zh-CN" altLang="en-US" sz="2200" b="1" dirty="0">
                <a:solidFill>
                  <a:schemeClr val="tx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模块接口</a:t>
            </a:r>
          </a:p>
        </p:txBody>
      </p:sp>
      <p:sp>
        <p:nvSpPr>
          <p:cNvPr id="22" name="TextBox 64"/>
          <p:cNvSpPr txBox="1"/>
          <p:nvPr/>
        </p:nvSpPr>
        <p:spPr>
          <a:xfrm>
            <a:off x="6105259" y="3020202"/>
            <a:ext cx="1540814" cy="4078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ctr"/>
            <a:r>
              <a:rPr lang="zh-CN" altLang="en-US" sz="2200" b="1" dirty="0">
                <a:solidFill>
                  <a:schemeClr val="tx1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前端概览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43" grpId="0" animBg="1"/>
      <p:bldP spid="44" grpId="0"/>
      <p:bldP spid="47" grpId="0" animBg="1"/>
      <p:bldP spid="48" grpId="0"/>
      <p:bldP spid="51" grpId="0" animBg="1"/>
      <p:bldP spid="52" grpId="0"/>
      <p:bldP spid="19" grpId="0"/>
      <p:bldP spid="20" grpId="0"/>
      <p:bldP spid="17" grpId="0"/>
      <p:bldP spid="18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2142126"/>
            <a:ext cx="4321174" cy="9080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5"/>
          <p:cNvSpPr txBox="1"/>
          <p:nvPr/>
        </p:nvSpPr>
        <p:spPr>
          <a:xfrm>
            <a:off x="4643162" y="2204395"/>
            <a:ext cx="4291170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E-R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图、关系模式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3489513" y="2012417"/>
            <a:ext cx="1408602" cy="1084912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01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1911653" y="2181694"/>
            <a:ext cx="1758735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PART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2202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5" y="0"/>
            <a:ext cx="7470130" cy="51435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25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26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42" name="矩形 3"/>
          <p:cNvSpPr>
            <a:spLocks noChangeArrowheads="1"/>
          </p:cNvSpPr>
          <p:nvPr/>
        </p:nvSpPr>
        <p:spPr bwMode="auto">
          <a:xfrm>
            <a:off x="331855" y="199212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cs typeface="Ebrima" panose="02000000000000000000" pitchFamily="2" charset="0"/>
                <a:sym typeface="微软雅黑" panose="020B0503020204020204" pitchFamily="34" charset="-122"/>
              </a:rPr>
              <a:t>关系模式图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11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"/>
          <p:cNvSpPr>
            <a:spLocks noChangeArrowheads="1"/>
          </p:cNvSpPr>
          <p:nvPr/>
        </p:nvSpPr>
        <p:spPr bwMode="auto">
          <a:xfrm>
            <a:off x="324447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  <a:cs typeface="Ebrima" panose="02000000000000000000" pitchFamily="2" charset="0"/>
                <a:sym typeface="微软雅黑" panose="020B0503020204020204" pitchFamily="34" charset="-122"/>
              </a:rPr>
              <a:t>关系模式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2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3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4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280262"/>
              </p:ext>
            </p:extLst>
          </p:nvPr>
        </p:nvGraphicFramePr>
        <p:xfrm>
          <a:off x="388150" y="607891"/>
          <a:ext cx="7608484" cy="4214549"/>
        </p:xfrm>
        <a:graphic>
          <a:graphicData uri="http://schemas.openxmlformats.org/drawingml/2006/table">
            <a:tbl>
              <a:tblPr/>
              <a:tblGrid>
                <a:gridCol w="1902121">
                  <a:extLst>
                    <a:ext uri="{9D8B030D-6E8A-4147-A177-3AD203B41FA5}">
                      <a16:colId xmlns:a16="http://schemas.microsoft.com/office/drawing/2014/main" val="3069398137"/>
                    </a:ext>
                  </a:extLst>
                </a:gridCol>
                <a:gridCol w="1902121">
                  <a:extLst>
                    <a:ext uri="{9D8B030D-6E8A-4147-A177-3AD203B41FA5}">
                      <a16:colId xmlns:a16="http://schemas.microsoft.com/office/drawing/2014/main" val="3416821619"/>
                    </a:ext>
                  </a:extLst>
                </a:gridCol>
                <a:gridCol w="1902121">
                  <a:extLst>
                    <a:ext uri="{9D8B030D-6E8A-4147-A177-3AD203B41FA5}">
                      <a16:colId xmlns:a16="http://schemas.microsoft.com/office/drawing/2014/main" val="2570290677"/>
                    </a:ext>
                  </a:extLst>
                </a:gridCol>
                <a:gridCol w="1902121">
                  <a:extLst>
                    <a:ext uri="{9D8B030D-6E8A-4147-A177-3AD203B41FA5}">
                      <a16:colId xmlns:a16="http://schemas.microsoft.com/office/drawing/2014/main" val="22628889"/>
                    </a:ext>
                  </a:extLst>
                </a:gridCol>
              </a:tblGrid>
              <a:tr h="152918"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表名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核心字段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/</a:t>
                      </a:r>
                      <a:r>
                        <a:rPr lang="zh-CN" altLang="en-US" sz="800">
                          <a:effectLst/>
                        </a:rPr>
                        <a:t>外键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设计说明与约束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16727"/>
                  </a:ext>
                </a:extLst>
              </a:tr>
              <a:tr h="348463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UserDirectory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user_id (PK), create_time, is_active, phone, password, user_name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统一用户基表；患者</a:t>
                      </a:r>
                      <a:r>
                        <a:rPr lang="en-US" altLang="zh-CN" sz="800">
                          <a:effectLst/>
                        </a:rPr>
                        <a:t>/</a:t>
                      </a:r>
                      <a:r>
                        <a:rPr lang="zh-CN" altLang="en-US" sz="800">
                          <a:effectLst/>
                        </a:rPr>
                        <a:t>医生</a:t>
                      </a:r>
                      <a:r>
                        <a:rPr lang="en-US" altLang="zh-CN" sz="800">
                          <a:effectLst/>
                        </a:rPr>
                        <a:t>/</a:t>
                      </a:r>
                      <a:r>
                        <a:rPr lang="zh-CN" altLang="en-US" sz="800">
                          <a:effectLst/>
                        </a:rPr>
                        <a:t>科室管理员</a:t>
                      </a:r>
                      <a:r>
                        <a:rPr lang="en-US" altLang="zh-CN" sz="800">
                          <a:effectLst/>
                        </a:rPr>
                        <a:t>/</a:t>
                      </a:r>
                      <a:r>
                        <a:rPr lang="zh-CN" altLang="en-US" sz="800">
                          <a:effectLst/>
                        </a:rPr>
                        <a:t>系统用户共用；</a:t>
                      </a:r>
                      <a:r>
                        <a:rPr lang="en-US" altLang="zh-CN" sz="800">
                          <a:effectLst/>
                        </a:rPr>
                        <a:t>is_active </a:t>
                      </a:r>
                      <a:r>
                        <a:rPr lang="zh-CN" altLang="en-US" sz="800">
                          <a:effectLst/>
                        </a:rPr>
                        <a:t>控制登录可用性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634543"/>
                  </a:ext>
                </a:extLst>
              </a:tr>
              <a:tr h="278514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Patient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user_id (PK, FK), gender, age, id_card, money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user_id，</a:t>
                      </a:r>
                      <a:r>
                        <a:rPr lang="zh-CN" altLang="en-US" sz="800">
                          <a:effectLst/>
                        </a:rPr>
                        <a:t>外键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user_id→UserDirectory.user_id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与用户基表 </a:t>
                      </a:r>
                      <a:r>
                        <a:rPr lang="en-US" altLang="zh-CN" sz="800">
                          <a:effectLst/>
                        </a:rPr>
                        <a:t>1:1 </a:t>
                      </a:r>
                      <a:r>
                        <a:rPr lang="zh-CN" altLang="en-US" sz="800">
                          <a:effectLst/>
                        </a:rPr>
                        <a:t>扩展，存储患者信息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533480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Doctor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user_id (PK, FK), department_id (FK), title, specialty, work_phone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user_id，</a:t>
                      </a:r>
                      <a:r>
                        <a:rPr lang="zh-CN" altLang="en-US" sz="800">
                          <a:effectLst/>
                        </a:rPr>
                        <a:t>外键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user_id→UserDirectory，department_id→Department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医生必须从属于某科室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601118"/>
                  </a:ext>
                </a:extLst>
              </a:tr>
              <a:tr h="278514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Department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department_id (PK), department_name, introduction, location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department_id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科室主数据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6091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DepartmentManager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user_id (PK, FK), department_id (FK), work_phone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user_id，</a:t>
                      </a:r>
                      <a:r>
                        <a:rPr lang="zh-CN" altLang="en-US" sz="800">
                          <a:effectLst/>
                        </a:rPr>
                        <a:t>外键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user_id→UserDirectory，department_id→Department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部门负责人（与科室建立一对多关系）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448982"/>
                  </a:ext>
                </a:extLst>
              </a:tr>
              <a:tr h="278514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SystemUser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user_id (PK, FK), work_phone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user_id，</a:t>
                      </a:r>
                      <a:r>
                        <a:rPr lang="zh-CN" altLang="en-US" sz="800">
                          <a:effectLst/>
                        </a:rPr>
                        <a:t>外键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user_id→UserDirectory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系统运营</a:t>
                      </a:r>
                      <a:r>
                        <a:rPr lang="en-US" altLang="zh-CN" sz="800">
                          <a:effectLst/>
                        </a:rPr>
                        <a:t>/</a:t>
                      </a:r>
                      <a:r>
                        <a:rPr lang="zh-CN" altLang="en-US" sz="800">
                          <a:effectLst/>
                        </a:rPr>
                        <a:t>前台等内部账号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286710"/>
                  </a:ext>
                </a:extLst>
              </a:tr>
              <a:tr h="584519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DoctorTimeSlot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slot_id (PK), doctor_id (FK), department_id (FK), slot_date, start_time, end_time, capacity, booked_count, status, note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slot_id；</a:t>
                      </a:r>
                      <a:r>
                        <a:rPr lang="zh-CN" altLang="en-US" sz="800">
                          <a:effectLst/>
                        </a:rPr>
                        <a:t>外键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doctor_id→Doctor，department_id→Department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医生出诊时隙；</a:t>
                      </a:r>
                      <a:r>
                        <a:rPr lang="en-US" sz="800">
                          <a:effectLst/>
                        </a:rPr>
                        <a:t>capacity、booked_count</a:t>
                      </a:r>
                      <a:r>
                        <a:rPr lang="zh-CN" altLang="en-US" sz="800">
                          <a:effectLst/>
                        </a:rPr>
                        <a:t>可控；</a:t>
                      </a:r>
                      <a:r>
                        <a:rPr lang="en-US" sz="800">
                          <a:effectLst/>
                        </a:rPr>
                        <a:t>status: Open/Closed/Blocked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617462"/>
                  </a:ext>
                </a:extLst>
              </a:tr>
              <a:tr h="584519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Registration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reg_id (PK), patient_id (FK), doctor_id (FK), department_id (FK), reg_date, reg_status, reg_fee, pay_status, create_time, slot_id (FK </a:t>
                      </a:r>
                      <a:r>
                        <a:rPr lang="zh-CN" altLang="en-US" sz="800">
                          <a:effectLst/>
                        </a:rPr>
                        <a:t>可空</a:t>
                      </a:r>
                      <a:r>
                        <a:rPr lang="en-US" altLang="zh-CN" sz="800">
                          <a:effectLst/>
                        </a:rPr>
                        <a:t>)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reg_id；</a:t>
                      </a:r>
                      <a:r>
                        <a:rPr lang="zh-CN" altLang="en-US" sz="800">
                          <a:effectLst/>
                        </a:rPr>
                        <a:t>多外键 →</a:t>
                      </a:r>
                      <a:r>
                        <a:rPr lang="en-US" sz="800">
                          <a:effectLst/>
                        </a:rPr>
                        <a:t>Patient / Doctor / Department / TimeSlot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挂号记录；</a:t>
                      </a:r>
                      <a:r>
                        <a:rPr lang="en-US" sz="800">
                          <a:effectLst/>
                        </a:rPr>
                        <a:t>pay_status: Unpaid / Paid / Refunded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904700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MedicalRecord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record_id (PK), reg_id (FK unique), diagnosis, treatment_plan, advice, create_time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record_id；</a:t>
                      </a:r>
                      <a:r>
                        <a:rPr lang="zh-CN" altLang="en-US" sz="800">
                          <a:effectLst/>
                        </a:rPr>
                        <a:t>唯一外键 </a:t>
                      </a:r>
                      <a:r>
                        <a:rPr lang="en-US" sz="800">
                          <a:effectLst/>
                        </a:rPr>
                        <a:t>reg_id→Registration.reg_id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一次挂号对应 </a:t>
                      </a:r>
                      <a:r>
                        <a:rPr lang="en-US" altLang="zh-CN" sz="800">
                          <a:effectLst/>
                        </a:rPr>
                        <a:t>0..1 </a:t>
                      </a:r>
                      <a:r>
                        <a:rPr lang="zh-CN" altLang="en-US" sz="800">
                          <a:effectLst/>
                        </a:rPr>
                        <a:t>病历（可配为 </a:t>
                      </a:r>
                      <a:r>
                        <a:rPr lang="en-US" altLang="zh-CN" sz="800">
                          <a:effectLst/>
                        </a:rPr>
                        <a:t>1..1</a:t>
                      </a:r>
                      <a:r>
                        <a:rPr lang="zh-CN" altLang="en-US" sz="800">
                          <a:effectLst/>
                        </a:rPr>
                        <a:t>）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287650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Message</a:t>
                      </a:r>
                      <a:endParaRPr lang="en-US" sz="800">
                        <a:effectLst/>
                      </a:endParaRP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>
                          <a:effectLst/>
                        </a:rPr>
                        <a:t>message_id</a:t>
                      </a:r>
                      <a:r>
                        <a:rPr lang="en-US" sz="800" dirty="0">
                          <a:effectLst/>
                        </a:rPr>
                        <a:t> (PK), title, content, </a:t>
                      </a:r>
                      <a:r>
                        <a:rPr lang="en-US" sz="800" dirty="0" err="1">
                          <a:effectLst/>
                        </a:rPr>
                        <a:t>create_user_id</a:t>
                      </a:r>
                      <a:r>
                        <a:rPr lang="en-US" sz="800" dirty="0">
                          <a:effectLst/>
                        </a:rPr>
                        <a:t> (FK), </a:t>
                      </a:r>
                      <a:r>
                        <a:rPr lang="en-US" sz="800" dirty="0" err="1">
                          <a:effectLst/>
                        </a:rPr>
                        <a:t>create_time</a:t>
                      </a:r>
                      <a:r>
                        <a:rPr lang="en-US" sz="800" dirty="0">
                          <a:effectLst/>
                        </a:rPr>
                        <a:t>, </a:t>
                      </a:r>
                      <a:r>
                        <a:rPr lang="en-US" sz="800" dirty="0" err="1">
                          <a:effectLst/>
                        </a:rPr>
                        <a:t>is_valid</a:t>
                      </a:r>
                      <a:r>
                        <a:rPr lang="en-US" sz="800" dirty="0">
                          <a:effectLst/>
                        </a:rPr>
                        <a:t>, </a:t>
                      </a:r>
                      <a:r>
                        <a:rPr lang="en-US" sz="800" dirty="0" err="1">
                          <a:effectLst/>
                        </a:rPr>
                        <a:t>target_user_id</a:t>
                      </a:r>
                      <a:r>
                        <a:rPr lang="en-US" sz="800" dirty="0">
                          <a:effectLst/>
                        </a:rPr>
                        <a:t> (FK)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effectLst/>
                        </a:rPr>
                        <a:t>主键</a:t>
                      </a:r>
                      <a:r>
                        <a:rPr lang="en-US" altLang="zh-CN" sz="800">
                          <a:effectLst/>
                        </a:rPr>
                        <a:t>: </a:t>
                      </a:r>
                      <a:r>
                        <a:rPr lang="en-US" sz="800">
                          <a:effectLst/>
                        </a:rPr>
                        <a:t>message_id；</a:t>
                      </a:r>
                      <a:r>
                        <a:rPr lang="zh-CN" altLang="en-US" sz="800">
                          <a:effectLst/>
                        </a:rPr>
                        <a:t>外键 →</a:t>
                      </a:r>
                      <a:r>
                        <a:rPr lang="en-US" sz="800">
                          <a:effectLst/>
                        </a:rPr>
                        <a:t>UserDirectory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effectLst/>
                        </a:rPr>
                        <a:t>用户站内消息，</a:t>
                      </a:r>
                      <a:r>
                        <a:rPr lang="en-US" sz="800" dirty="0" err="1">
                          <a:effectLst/>
                        </a:rPr>
                        <a:t>is_valid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zh-CN" altLang="en-US" sz="800" dirty="0">
                          <a:effectLst/>
                        </a:rPr>
                        <a:t>控制撤回</a:t>
                      </a:r>
                      <a:r>
                        <a:rPr lang="en-US" altLang="zh-CN" sz="800" dirty="0">
                          <a:effectLst/>
                        </a:rPr>
                        <a:t>/</a:t>
                      </a:r>
                      <a:r>
                        <a:rPr lang="zh-CN" altLang="en-US" sz="800" dirty="0">
                          <a:effectLst/>
                        </a:rPr>
                        <a:t>隐藏</a:t>
                      </a:r>
                    </a:p>
                  </a:txBody>
                  <a:tcPr marL="26523" marR="26523" marT="13261" marB="1326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179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062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2142126"/>
            <a:ext cx="4321174" cy="9080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5"/>
          <p:cNvSpPr txBox="1"/>
          <p:nvPr/>
        </p:nvSpPr>
        <p:spPr>
          <a:xfrm>
            <a:off x="4724698" y="2198571"/>
            <a:ext cx="3651973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数据字典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3489513" y="2012417"/>
            <a:ext cx="1408602" cy="1084912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02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1911653" y="2181694"/>
            <a:ext cx="1758735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PART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5461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</a:t>
            </a:r>
            <a:r>
              <a:rPr lang="en-US" altLang="zh-CN" sz="1800" b="1" dirty="0" err="1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UserDirectory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254554"/>
              </p:ext>
            </p:extLst>
          </p:nvPr>
        </p:nvGraphicFramePr>
        <p:xfrm>
          <a:off x="333515" y="673485"/>
          <a:ext cx="7667408" cy="4094608"/>
        </p:xfrm>
        <a:graphic>
          <a:graphicData uri="http://schemas.openxmlformats.org/drawingml/2006/table">
            <a:tbl>
              <a:tblPr/>
              <a:tblGrid>
                <a:gridCol w="1916852">
                  <a:extLst>
                    <a:ext uri="{9D8B030D-6E8A-4147-A177-3AD203B41FA5}">
                      <a16:colId xmlns:a16="http://schemas.microsoft.com/office/drawing/2014/main" val="1884334468"/>
                    </a:ext>
                  </a:extLst>
                </a:gridCol>
                <a:gridCol w="1916852">
                  <a:extLst>
                    <a:ext uri="{9D8B030D-6E8A-4147-A177-3AD203B41FA5}">
                      <a16:colId xmlns:a16="http://schemas.microsoft.com/office/drawing/2014/main" val="298602517"/>
                    </a:ext>
                  </a:extLst>
                </a:gridCol>
                <a:gridCol w="1916852">
                  <a:extLst>
                    <a:ext uri="{9D8B030D-6E8A-4147-A177-3AD203B41FA5}">
                      <a16:colId xmlns:a16="http://schemas.microsoft.com/office/drawing/2014/main" val="1629118794"/>
                    </a:ext>
                  </a:extLst>
                </a:gridCol>
                <a:gridCol w="1916852">
                  <a:extLst>
                    <a:ext uri="{9D8B030D-6E8A-4147-A177-3AD203B41FA5}">
                      <a16:colId xmlns:a16="http://schemas.microsoft.com/office/drawing/2014/main" val="3514739113"/>
                    </a:ext>
                  </a:extLst>
                </a:gridCol>
              </a:tblGrid>
              <a:tr h="327540"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字段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类型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约束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默认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说明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850762"/>
                  </a:ext>
                </a:extLst>
              </a:tr>
              <a:tr h="32754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UserID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VARCHAR(32)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PK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全局用户</a:t>
                      </a:r>
                      <a:r>
                        <a:rPr lang="en-US" sz="1200">
                          <a:effectLst/>
                        </a:rPr>
                        <a:t>ID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162869"/>
                  </a:ext>
                </a:extLst>
              </a:tr>
              <a:tr h="78623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Role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ENUM('patient','doctor','dept_manager','admin')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NOT NULL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角色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621274"/>
                  </a:ext>
                </a:extLst>
              </a:tr>
              <a:tr h="32754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UserName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VARCHAR(100)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NOT NULL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显示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登录名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59107"/>
                  </a:ext>
                </a:extLst>
              </a:tr>
              <a:tr h="32754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Phone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VARCHAR(20)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UNIQUE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手机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131887"/>
                  </a:ext>
                </a:extLst>
              </a:tr>
              <a:tr h="32754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PasswordHash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VARCHAR(255)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NOT NULL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密码哈希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796654"/>
                  </a:ext>
                </a:extLst>
              </a:tr>
              <a:tr h="55689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DepartmentID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VARCHAR(32)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NULL, FK→Department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医生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科管可有科室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063871"/>
                  </a:ext>
                </a:extLst>
              </a:tr>
              <a:tr h="78623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CreateTime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DATETIME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DEFAULT CURRENT_TIMESTAMP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创建时间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127424"/>
                  </a:ext>
                </a:extLst>
              </a:tr>
              <a:tr h="32754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IsActive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BOOLEAN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DEFAULT TRUE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冻结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解冻</a:t>
                      </a:r>
                    </a:p>
                  </a:txBody>
                  <a:tcPr marL="78295" marR="78295" marT="39148" marB="3914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76776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-Patient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84677"/>
              </p:ext>
            </p:extLst>
          </p:nvPr>
        </p:nvGraphicFramePr>
        <p:xfrm>
          <a:off x="324447" y="673485"/>
          <a:ext cx="7886700" cy="182880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87836154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82109757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29961882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418793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字段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类型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约束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94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UserID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PK, FK→User(UserID)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对应用户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31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Gender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ENUM('M','F','Other')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性别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35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Age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年龄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70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IDCard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UNIQUE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证件号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130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Money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DEFAULT 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余额（分）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719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2479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-Doctor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2299"/>
              </p:ext>
            </p:extLst>
          </p:nvPr>
        </p:nvGraphicFramePr>
        <p:xfrm>
          <a:off x="324447" y="673485"/>
          <a:ext cx="7886700" cy="121920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67197317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274003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70127765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21005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字段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类型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约束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57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UserID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PK, FK→User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680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Title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VARCHAR(50)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职称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06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Specialty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VARCHAR(200)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专长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25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722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-Department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499598"/>
              </p:ext>
            </p:extLst>
          </p:nvPr>
        </p:nvGraphicFramePr>
        <p:xfrm>
          <a:off x="324447" y="673485"/>
          <a:ext cx="7886700" cy="152400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08546161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55477141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01784780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025209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字段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类型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约束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235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DepartmentID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294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DepartmentName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VARCHAR(100)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UNIQUE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76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Introduction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1573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Location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VARCHAR(100)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671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794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334839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</a:t>
            </a:r>
            <a:r>
              <a:rPr lang="en-US" altLang="zh-CN" sz="1800" b="1" dirty="0" err="1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DepartmentManager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97864"/>
              </p:ext>
            </p:extLst>
          </p:nvPr>
        </p:nvGraphicFramePr>
        <p:xfrm>
          <a:off x="324447" y="673485"/>
          <a:ext cx="7886700" cy="91440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70150437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30109608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0256511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802635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字段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类型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约束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596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UserID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PK, FK→User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601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DepartmentID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FK→Department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管理的科室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719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6718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334839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</a:t>
            </a:r>
            <a:r>
              <a:rPr lang="en-US" altLang="zh-CN" sz="1800" b="1" dirty="0" err="1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SystemUser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553019"/>
              </p:ext>
            </p:extLst>
          </p:nvPr>
        </p:nvGraphicFramePr>
        <p:xfrm>
          <a:off x="324447" y="673187"/>
          <a:ext cx="7886700" cy="60960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361758629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3657153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40020237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9274776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字段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类型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约束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16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UserID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PK, FK→User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Role </a:t>
                      </a:r>
                      <a:r>
                        <a:rPr lang="zh-CN" altLang="en-US" dirty="0">
                          <a:effectLst/>
                        </a:rPr>
                        <a:t>必为 </a:t>
                      </a:r>
                      <a:r>
                        <a:rPr lang="en-US" dirty="0">
                          <a:effectLst/>
                        </a:rPr>
                        <a:t>admin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048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852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334839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-Registration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80253"/>
              </p:ext>
            </p:extLst>
          </p:nvPr>
        </p:nvGraphicFramePr>
        <p:xfrm>
          <a:off x="324447" y="673488"/>
          <a:ext cx="7661312" cy="4172831"/>
        </p:xfrm>
        <a:graphic>
          <a:graphicData uri="http://schemas.openxmlformats.org/drawingml/2006/table">
            <a:tbl>
              <a:tblPr/>
              <a:tblGrid>
                <a:gridCol w="1915328">
                  <a:extLst>
                    <a:ext uri="{9D8B030D-6E8A-4147-A177-3AD203B41FA5}">
                      <a16:colId xmlns:a16="http://schemas.microsoft.com/office/drawing/2014/main" val="3364487543"/>
                    </a:ext>
                  </a:extLst>
                </a:gridCol>
                <a:gridCol w="1915328">
                  <a:extLst>
                    <a:ext uri="{9D8B030D-6E8A-4147-A177-3AD203B41FA5}">
                      <a16:colId xmlns:a16="http://schemas.microsoft.com/office/drawing/2014/main" val="576044050"/>
                    </a:ext>
                  </a:extLst>
                </a:gridCol>
                <a:gridCol w="1915328">
                  <a:extLst>
                    <a:ext uri="{9D8B030D-6E8A-4147-A177-3AD203B41FA5}">
                      <a16:colId xmlns:a16="http://schemas.microsoft.com/office/drawing/2014/main" val="197765348"/>
                    </a:ext>
                  </a:extLst>
                </a:gridCol>
                <a:gridCol w="1915328">
                  <a:extLst>
                    <a:ext uri="{9D8B030D-6E8A-4147-A177-3AD203B41FA5}">
                      <a16:colId xmlns:a16="http://schemas.microsoft.com/office/drawing/2014/main" val="1925441725"/>
                    </a:ext>
                  </a:extLst>
                </a:gridCol>
              </a:tblGrid>
              <a:tr h="302141"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字段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类型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约束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说明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002779"/>
                  </a:ext>
                </a:extLst>
              </a:tr>
              <a:tr h="30214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RegID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VARCHAR(32)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PK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852124"/>
                  </a:ext>
                </a:extLst>
              </a:tr>
              <a:tr h="30214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PatientID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VARCHAR(32)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FK→User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必须是 </a:t>
                      </a:r>
                      <a:r>
                        <a:rPr lang="en-US" sz="1100">
                          <a:effectLst/>
                        </a:rPr>
                        <a:t>patient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791997"/>
                  </a:ext>
                </a:extLst>
              </a:tr>
              <a:tr h="30214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DoctorID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VARCHAR(32)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FK→User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必须是 </a:t>
                      </a:r>
                      <a:r>
                        <a:rPr lang="en-US" sz="1100">
                          <a:effectLst/>
                        </a:rPr>
                        <a:t>doctor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124399"/>
                  </a:ext>
                </a:extLst>
              </a:tr>
              <a:tr h="30214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DepartmentID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VARCHAR(32)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FK→Department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23139"/>
                  </a:ext>
                </a:extLst>
              </a:tr>
              <a:tr h="30214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RegDate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DATE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847907"/>
                  </a:ext>
                </a:extLst>
              </a:tr>
              <a:tr h="30214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RegTimeSlot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VARCHAR(20)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AM-1/AM-2/PM-1…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153111"/>
                  </a:ext>
                </a:extLst>
              </a:tr>
              <a:tr h="51446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RegStatus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ENUM('Booked','Canceled','Finished')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DEFAULT 'Booked'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186085"/>
                  </a:ext>
                </a:extLst>
              </a:tr>
              <a:tr h="30214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RegFee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INT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分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110062"/>
                  </a:ext>
                </a:extLst>
              </a:tr>
              <a:tr h="51446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PayStatus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ENUM('Unpaid','Paid','Refunded')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DEFAULT 'Unpaid'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61942"/>
                  </a:ext>
                </a:extLst>
              </a:tr>
              <a:tr h="726781">
                <a:tc>
                  <a:txBody>
                    <a:bodyPr/>
                    <a:lstStyle/>
                    <a:p>
                      <a:r>
                        <a:rPr lang="en-US" sz="1100" dirty="0" err="1">
                          <a:effectLst/>
                        </a:rPr>
                        <a:t>CreateTime</a:t>
                      </a:r>
                      <a:endParaRPr lang="en-US" sz="1100" dirty="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DATETIME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DEFAULT CURRENT_TIMESTAMP</a:t>
                      </a: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effectLst/>
                      </a:endParaRPr>
                    </a:p>
                  </a:txBody>
                  <a:tcPr marL="70920" marR="70920" marT="35460" marB="3546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315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665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334839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</a:t>
            </a:r>
            <a:r>
              <a:rPr lang="en-US" altLang="zh-CN" sz="1800" b="1" dirty="0" err="1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MedicalRecord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023187"/>
              </p:ext>
            </p:extLst>
          </p:nvPr>
        </p:nvGraphicFramePr>
        <p:xfrm>
          <a:off x="324447" y="673485"/>
          <a:ext cx="7886700" cy="277368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396904718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0039332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2638806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675360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字段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类型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约束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992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RecordID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86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RegID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UNIQUE, FK→Registration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一次挂号一份病历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692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Diagnosis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49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TreatmentPlan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125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Advice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24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CreateTime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DATETIME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DEFAULT CURRENT_TIMESTAMP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74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172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3"/>
          <p:cNvSpPr>
            <a:spLocks noChangeArrowheads="1"/>
          </p:cNvSpPr>
          <p:nvPr/>
        </p:nvSpPr>
        <p:spPr bwMode="auto">
          <a:xfrm>
            <a:off x="324447" y="196870"/>
            <a:ext cx="334839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fontAlgn="ctr"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数据字典</a:t>
            </a:r>
            <a:r>
              <a:rPr lang="en-US" altLang="zh-CN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  <a:sym typeface="微软雅黑" panose="020B0503020204020204" pitchFamily="34" charset="-122"/>
              </a:rPr>
              <a:t>-Message</a:t>
            </a:r>
            <a:endParaRPr lang="zh-CN" altLang="en-US" sz="1800" b="1" dirty="0">
              <a:latin typeface="Source Han Sans Normal" panose="020B0400000000000000" pitchFamily="34" charset="-122"/>
              <a:ea typeface="Source Han Sans Normal" panose="020B0400000000000000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194566"/>
              </p:ext>
            </p:extLst>
          </p:nvPr>
        </p:nvGraphicFramePr>
        <p:xfrm>
          <a:off x="324447" y="673485"/>
          <a:ext cx="7886700" cy="307848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41121026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8723981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25967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026782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字段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类型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约束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默认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70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MessageID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65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Title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VARCHAR(200)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NOT NULL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290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Content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NOT NULL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944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CreateUserID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FK→User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发送者（任意角色）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693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CreateTime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DATETIME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DEFAULT CURRENT_TIMESTAMP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93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IsValid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BOOLEAN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DEFAULT TRUE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撤回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作废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567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TargetUserID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VARCHAR(32)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NULL, FK→User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为空</a:t>
                      </a:r>
                      <a:r>
                        <a:rPr lang="en-US" altLang="zh-CN" dirty="0">
                          <a:effectLst/>
                        </a:rPr>
                        <a:t>=</a:t>
                      </a:r>
                      <a:r>
                        <a:rPr lang="zh-CN" altLang="en-US" dirty="0">
                          <a:effectLst/>
                        </a:rPr>
                        <a:t>群发（仅 </a:t>
                      </a:r>
                      <a:r>
                        <a:rPr lang="en-US" altLang="zh-CN" dirty="0">
                          <a:effectLst/>
                        </a:rPr>
                        <a:t>admin </a:t>
                      </a:r>
                      <a:r>
                        <a:rPr lang="zh-CN" altLang="en-US" dirty="0">
                          <a:effectLst/>
                        </a:rPr>
                        <a:t>可发）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34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9417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2142126"/>
            <a:ext cx="4321174" cy="9080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5"/>
          <p:cNvSpPr txBox="1"/>
          <p:nvPr/>
        </p:nvSpPr>
        <p:spPr>
          <a:xfrm>
            <a:off x="4724698" y="2198571"/>
            <a:ext cx="3907750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模块接口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3489513" y="2012417"/>
            <a:ext cx="1408602" cy="1084912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03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1911653" y="2181694"/>
            <a:ext cx="1758735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PART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5132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2252849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账号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&amp;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授权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830005"/>
            <a:ext cx="7949184" cy="379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734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2252849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账号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&amp;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授权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5" y="835152"/>
            <a:ext cx="7691628" cy="38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857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2252849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账号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&amp;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授权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7394448" cy="223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22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查询（按时间段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科室）、挂号、取消号、支付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7894320" cy="300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2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查询（按时间段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科室）、挂号、取消号、支付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7588938" cy="320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17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查询（按时间段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科室）、挂号、取消号、支付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7105529" cy="35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7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查询（按时间段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科室）、挂号、取消号、支付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603448"/>
            <a:ext cx="5757065" cy="443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13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查询（按时间段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科室）、挂号、取消号、支付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6994869" cy="214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72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查询（按时间段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科室）、挂号、取消号、支付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7227837" cy="217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0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查询（按时间段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科室）、挂号、取消号、支付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673485"/>
            <a:ext cx="7705422" cy="39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8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消息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6924978" cy="231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078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消息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799472"/>
            <a:ext cx="7379266" cy="373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053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消息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945076"/>
            <a:ext cx="7256958" cy="172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28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冻结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解冻（</a:t>
            </a:r>
            <a:r>
              <a:rPr lang="en-US" altLang="zh-CN" sz="1800" b="1" dirty="0" err="1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IsActive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字段）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714394"/>
            <a:ext cx="6913421" cy="402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82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3"/>
          <p:cNvSpPr>
            <a:spLocks noChangeArrowheads="1"/>
          </p:cNvSpPr>
          <p:nvPr/>
        </p:nvSpPr>
        <p:spPr bwMode="auto">
          <a:xfrm>
            <a:off x="331855" y="196870"/>
            <a:ext cx="5953121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模块接口</a:t>
            </a:r>
            <a:r>
              <a:rPr lang="en-US" altLang="zh-CN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-</a:t>
            </a:r>
            <a:r>
              <a:rPr lang="zh-CN" altLang="en-US" sz="1800" b="1" dirty="0">
                <a:solidFill>
                  <a:srgbClr val="000000"/>
                </a:solidFill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总结建议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56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87126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673485"/>
            <a:ext cx="6625402" cy="398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22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0" y="2142126"/>
            <a:ext cx="4321174" cy="9080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5"/>
          <p:cNvSpPr txBox="1"/>
          <p:nvPr/>
        </p:nvSpPr>
        <p:spPr>
          <a:xfrm>
            <a:off x="4724698" y="2198571"/>
            <a:ext cx="3651973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前端概览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3489513" y="2012417"/>
            <a:ext cx="1408602" cy="1084912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04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1911653" y="2181694"/>
            <a:ext cx="1758735" cy="74635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/>
          <a:p>
            <a:pPr fontAlgn="ctr"/>
            <a:r>
              <a:rPr lang="en-US" altLang="zh-C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Bold" panose="020B0800000000000000" pitchFamily="34" charset="-122"/>
                <a:ea typeface="Source Han Sans Bold" panose="020B0800000000000000" pitchFamily="34" charset="-122"/>
                <a:sym typeface="微软雅黑" panose="020B0503020204020204" pitchFamily="34" charset="-122"/>
              </a:rPr>
              <a:t>PART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Bold" panose="020B0800000000000000" pitchFamily="34" charset="-122"/>
              <a:ea typeface="Source Han Sans Bold" panose="020B0800000000000000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70300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331855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前端概览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673485"/>
            <a:ext cx="7147560" cy="3803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331855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前端概览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673485"/>
            <a:ext cx="7399020" cy="39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203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331855" y="196870"/>
            <a:ext cx="2423253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800" b="1" dirty="0">
                <a:latin typeface="Source Han Sans Normal" panose="020B0400000000000000" pitchFamily="34" charset="-122"/>
                <a:ea typeface="Source Han Sans Normal" panose="020B0400000000000000" pitchFamily="34" charset="-122"/>
              </a:rPr>
              <a:t>前端概览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" y="141220"/>
            <a:ext cx="328891" cy="466672"/>
            <a:chOff x="199304" y="53446"/>
            <a:chExt cx="328891" cy="466672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02267" y="53446"/>
              <a:ext cx="197039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31156" y="183818"/>
              <a:ext cx="197039" cy="201484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199304" y="320115"/>
              <a:ext cx="195557" cy="200003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 dirty="0">
                <a:solidFill>
                  <a:srgbClr val="294A5A"/>
                </a:solidFill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879" y="109402"/>
            <a:ext cx="861315" cy="85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673485"/>
            <a:ext cx="7345680" cy="390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82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3288630"/>
            <a:ext cx="9144000" cy="1854729"/>
          </a:xfrm>
          <a:custGeom>
            <a:avLst/>
            <a:gdLst>
              <a:gd name="T0" fmla="*/ 0 w 5734"/>
              <a:gd name="T1" fmla="*/ 0 h 886"/>
              <a:gd name="T2" fmla="*/ 123 w 5734"/>
              <a:gd name="T3" fmla="*/ 88 h 886"/>
              <a:gd name="T4" fmla="*/ 249 w 5734"/>
              <a:gd name="T5" fmla="*/ 165 h 886"/>
              <a:gd name="T6" fmla="*/ 377 w 5734"/>
              <a:gd name="T7" fmla="*/ 233 h 886"/>
              <a:gd name="T8" fmla="*/ 510 w 5734"/>
              <a:gd name="T9" fmla="*/ 293 h 886"/>
              <a:gd name="T10" fmla="*/ 646 w 5734"/>
              <a:gd name="T11" fmla="*/ 343 h 886"/>
              <a:gd name="T12" fmla="*/ 785 w 5734"/>
              <a:gd name="T13" fmla="*/ 387 h 886"/>
              <a:gd name="T14" fmla="*/ 926 w 5734"/>
              <a:gd name="T15" fmla="*/ 422 h 886"/>
              <a:gd name="T16" fmla="*/ 1072 w 5734"/>
              <a:gd name="T17" fmla="*/ 452 h 886"/>
              <a:gd name="T18" fmla="*/ 1219 w 5734"/>
              <a:gd name="T19" fmla="*/ 473 h 886"/>
              <a:gd name="T20" fmla="*/ 1368 w 5734"/>
              <a:gd name="T21" fmla="*/ 490 h 886"/>
              <a:gd name="T22" fmla="*/ 1520 w 5734"/>
              <a:gd name="T23" fmla="*/ 501 h 886"/>
              <a:gd name="T24" fmla="*/ 1674 w 5734"/>
              <a:gd name="T25" fmla="*/ 506 h 886"/>
              <a:gd name="T26" fmla="*/ 1830 w 5734"/>
              <a:gd name="T27" fmla="*/ 506 h 886"/>
              <a:gd name="T28" fmla="*/ 1987 w 5734"/>
              <a:gd name="T29" fmla="*/ 503 h 886"/>
              <a:gd name="T30" fmla="*/ 2147 w 5734"/>
              <a:gd name="T31" fmla="*/ 494 h 886"/>
              <a:gd name="T32" fmla="*/ 2306 w 5734"/>
              <a:gd name="T33" fmla="*/ 483 h 886"/>
              <a:gd name="T34" fmla="*/ 2469 w 5734"/>
              <a:gd name="T35" fmla="*/ 469 h 886"/>
              <a:gd name="T36" fmla="*/ 2632 w 5734"/>
              <a:gd name="T37" fmla="*/ 454 h 886"/>
              <a:gd name="T38" fmla="*/ 2796 w 5734"/>
              <a:gd name="T39" fmla="*/ 434 h 886"/>
              <a:gd name="T40" fmla="*/ 2961 w 5734"/>
              <a:gd name="T41" fmla="*/ 415 h 886"/>
              <a:gd name="T42" fmla="*/ 3125 w 5734"/>
              <a:gd name="T43" fmla="*/ 394 h 886"/>
              <a:gd name="T44" fmla="*/ 3292 w 5734"/>
              <a:gd name="T45" fmla="*/ 371 h 886"/>
              <a:gd name="T46" fmla="*/ 3458 w 5734"/>
              <a:gd name="T47" fmla="*/ 350 h 886"/>
              <a:gd name="T48" fmla="*/ 3624 w 5734"/>
              <a:gd name="T49" fmla="*/ 328 h 886"/>
              <a:gd name="T50" fmla="*/ 3793 w 5734"/>
              <a:gd name="T51" fmla="*/ 307 h 886"/>
              <a:gd name="T52" fmla="*/ 3959 w 5734"/>
              <a:gd name="T53" fmla="*/ 287 h 886"/>
              <a:gd name="T54" fmla="*/ 4125 w 5734"/>
              <a:gd name="T55" fmla="*/ 268 h 886"/>
              <a:gd name="T56" fmla="*/ 4290 w 5734"/>
              <a:gd name="T57" fmla="*/ 252 h 886"/>
              <a:gd name="T58" fmla="*/ 4454 w 5734"/>
              <a:gd name="T59" fmla="*/ 238 h 886"/>
              <a:gd name="T60" fmla="*/ 4619 w 5734"/>
              <a:gd name="T61" fmla="*/ 228 h 886"/>
              <a:gd name="T62" fmla="*/ 4784 w 5734"/>
              <a:gd name="T63" fmla="*/ 221 h 886"/>
              <a:gd name="T64" fmla="*/ 4945 w 5734"/>
              <a:gd name="T65" fmla="*/ 217 h 886"/>
              <a:gd name="T66" fmla="*/ 5106 w 5734"/>
              <a:gd name="T67" fmla="*/ 217 h 886"/>
              <a:gd name="T68" fmla="*/ 5265 w 5734"/>
              <a:gd name="T69" fmla="*/ 223 h 886"/>
              <a:gd name="T70" fmla="*/ 5424 w 5734"/>
              <a:gd name="T71" fmla="*/ 233 h 886"/>
              <a:gd name="T72" fmla="*/ 5580 w 5734"/>
              <a:gd name="T73" fmla="*/ 249 h 886"/>
              <a:gd name="T74" fmla="*/ 5734 w 5734"/>
              <a:gd name="T75" fmla="*/ 272 h 886"/>
              <a:gd name="T76" fmla="*/ 5734 w 5734"/>
              <a:gd name="T77" fmla="*/ 886 h 886"/>
              <a:gd name="T78" fmla="*/ 0 w 5734"/>
              <a:gd name="T79" fmla="*/ 886 h 886"/>
              <a:gd name="T80" fmla="*/ 0 w 5734"/>
              <a:gd name="T81" fmla="*/ 0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734" h="886">
                <a:moveTo>
                  <a:pt x="0" y="0"/>
                </a:moveTo>
                <a:lnTo>
                  <a:pt x="123" y="88"/>
                </a:lnTo>
                <a:lnTo>
                  <a:pt x="249" y="165"/>
                </a:lnTo>
                <a:lnTo>
                  <a:pt x="377" y="233"/>
                </a:lnTo>
                <a:lnTo>
                  <a:pt x="510" y="293"/>
                </a:lnTo>
                <a:lnTo>
                  <a:pt x="646" y="343"/>
                </a:lnTo>
                <a:lnTo>
                  <a:pt x="785" y="387"/>
                </a:lnTo>
                <a:lnTo>
                  <a:pt x="926" y="422"/>
                </a:lnTo>
                <a:lnTo>
                  <a:pt x="1072" y="452"/>
                </a:lnTo>
                <a:lnTo>
                  <a:pt x="1219" y="473"/>
                </a:lnTo>
                <a:lnTo>
                  <a:pt x="1368" y="490"/>
                </a:lnTo>
                <a:lnTo>
                  <a:pt x="1520" y="501"/>
                </a:lnTo>
                <a:lnTo>
                  <a:pt x="1674" y="506"/>
                </a:lnTo>
                <a:lnTo>
                  <a:pt x="1830" y="506"/>
                </a:lnTo>
                <a:lnTo>
                  <a:pt x="1987" y="503"/>
                </a:lnTo>
                <a:lnTo>
                  <a:pt x="2147" y="494"/>
                </a:lnTo>
                <a:lnTo>
                  <a:pt x="2306" y="483"/>
                </a:lnTo>
                <a:lnTo>
                  <a:pt x="2469" y="469"/>
                </a:lnTo>
                <a:lnTo>
                  <a:pt x="2632" y="454"/>
                </a:lnTo>
                <a:lnTo>
                  <a:pt x="2796" y="434"/>
                </a:lnTo>
                <a:lnTo>
                  <a:pt x="2961" y="415"/>
                </a:lnTo>
                <a:lnTo>
                  <a:pt x="3125" y="394"/>
                </a:lnTo>
                <a:lnTo>
                  <a:pt x="3292" y="371"/>
                </a:lnTo>
                <a:lnTo>
                  <a:pt x="3458" y="350"/>
                </a:lnTo>
                <a:lnTo>
                  <a:pt x="3624" y="328"/>
                </a:lnTo>
                <a:lnTo>
                  <a:pt x="3793" y="307"/>
                </a:lnTo>
                <a:lnTo>
                  <a:pt x="3959" y="287"/>
                </a:lnTo>
                <a:lnTo>
                  <a:pt x="4125" y="268"/>
                </a:lnTo>
                <a:lnTo>
                  <a:pt x="4290" y="252"/>
                </a:lnTo>
                <a:lnTo>
                  <a:pt x="4454" y="238"/>
                </a:lnTo>
                <a:lnTo>
                  <a:pt x="4619" y="228"/>
                </a:lnTo>
                <a:lnTo>
                  <a:pt x="4784" y="221"/>
                </a:lnTo>
                <a:lnTo>
                  <a:pt x="4945" y="217"/>
                </a:lnTo>
                <a:lnTo>
                  <a:pt x="5106" y="217"/>
                </a:lnTo>
                <a:lnTo>
                  <a:pt x="5265" y="223"/>
                </a:lnTo>
                <a:lnTo>
                  <a:pt x="5424" y="233"/>
                </a:lnTo>
                <a:lnTo>
                  <a:pt x="5580" y="249"/>
                </a:lnTo>
                <a:lnTo>
                  <a:pt x="5734" y="272"/>
                </a:lnTo>
                <a:lnTo>
                  <a:pt x="573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 sz="996"/>
          </a:p>
        </p:txBody>
      </p:sp>
      <p:sp>
        <p:nvSpPr>
          <p:cNvPr id="7" name="Freeform 7"/>
          <p:cNvSpPr/>
          <p:nvPr/>
        </p:nvSpPr>
        <p:spPr bwMode="auto">
          <a:xfrm>
            <a:off x="1" y="3749481"/>
            <a:ext cx="9144000" cy="1393878"/>
          </a:xfrm>
          <a:custGeom>
            <a:avLst/>
            <a:gdLst>
              <a:gd name="T0" fmla="*/ 5044 w 5734"/>
              <a:gd name="T1" fmla="*/ 0 h 658"/>
              <a:gd name="T2" fmla="*/ 5272 w 5734"/>
              <a:gd name="T3" fmla="*/ 7 h 658"/>
              <a:gd name="T4" fmla="*/ 5503 w 5734"/>
              <a:gd name="T5" fmla="*/ 21 h 658"/>
              <a:gd name="T6" fmla="*/ 5734 w 5734"/>
              <a:gd name="T7" fmla="*/ 44 h 658"/>
              <a:gd name="T8" fmla="*/ 5734 w 5734"/>
              <a:gd name="T9" fmla="*/ 658 h 658"/>
              <a:gd name="T10" fmla="*/ 0 w 5734"/>
              <a:gd name="T11" fmla="*/ 658 h 658"/>
              <a:gd name="T12" fmla="*/ 0 w 5734"/>
              <a:gd name="T13" fmla="*/ 355 h 658"/>
              <a:gd name="T14" fmla="*/ 179 w 5734"/>
              <a:gd name="T15" fmla="*/ 399 h 658"/>
              <a:gd name="T16" fmla="*/ 359 w 5734"/>
              <a:gd name="T17" fmla="*/ 430 h 658"/>
              <a:gd name="T18" fmla="*/ 541 w 5734"/>
              <a:gd name="T19" fmla="*/ 453 h 658"/>
              <a:gd name="T20" fmla="*/ 725 w 5734"/>
              <a:gd name="T21" fmla="*/ 467 h 658"/>
              <a:gd name="T22" fmla="*/ 911 w 5734"/>
              <a:gd name="T23" fmla="*/ 472 h 658"/>
              <a:gd name="T24" fmla="*/ 1100 w 5734"/>
              <a:gd name="T25" fmla="*/ 471 h 658"/>
              <a:gd name="T26" fmla="*/ 1289 w 5734"/>
              <a:gd name="T27" fmla="*/ 462 h 658"/>
              <a:gd name="T28" fmla="*/ 1481 w 5734"/>
              <a:gd name="T29" fmla="*/ 446 h 658"/>
              <a:gd name="T30" fmla="*/ 1674 w 5734"/>
              <a:gd name="T31" fmla="*/ 427 h 658"/>
              <a:gd name="T32" fmla="*/ 1870 w 5734"/>
              <a:gd name="T33" fmla="*/ 402 h 658"/>
              <a:gd name="T34" fmla="*/ 2068 w 5734"/>
              <a:gd name="T35" fmla="*/ 373 h 658"/>
              <a:gd name="T36" fmla="*/ 2268 w 5734"/>
              <a:gd name="T37" fmla="*/ 341 h 658"/>
              <a:gd name="T38" fmla="*/ 2469 w 5734"/>
              <a:gd name="T39" fmla="*/ 308 h 658"/>
              <a:gd name="T40" fmla="*/ 2672 w 5734"/>
              <a:gd name="T41" fmla="*/ 271 h 658"/>
              <a:gd name="T42" fmla="*/ 2879 w 5734"/>
              <a:gd name="T43" fmla="*/ 236 h 658"/>
              <a:gd name="T44" fmla="*/ 3085 w 5734"/>
              <a:gd name="T45" fmla="*/ 199 h 658"/>
              <a:gd name="T46" fmla="*/ 3295 w 5734"/>
              <a:gd name="T47" fmla="*/ 164 h 658"/>
              <a:gd name="T48" fmla="*/ 3507 w 5734"/>
              <a:gd name="T49" fmla="*/ 131 h 658"/>
              <a:gd name="T50" fmla="*/ 3721 w 5734"/>
              <a:gd name="T51" fmla="*/ 100 h 658"/>
              <a:gd name="T52" fmla="*/ 3936 w 5734"/>
              <a:gd name="T53" fmla="*/ 70 h 658"/>
              <a:gd name="T54" fmla="*/ 4153 w 5734"/>
              <a:gd name="T55" fmla="*/ 45 h 658"/>
              <a:gd name="T56" fmla="*/ 4374 w 5734"/>
              <a:gd name="T57" fmla="*/ 26 h 658"/>
              <a:gd name="T58" fmla="*/ 4594 w 5734"/>
              <a:gd name="T59" fmla="*/ 10 h 658"/>
              <a:gd name="T60" fmla="*/ 4819 w 5734"/>
              <a:gd name="T61" fmla="*/ 2 h 658"/>
              <a:gd name="T62" fmla="*/ 5044 w 5734"/>
              <a:gd name="T63" fmla="*/ 0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734" h="658">
                <a:moveTo>
                  <a:pt x="5044" y="0"/>
                </a:moveTo>
                <a:lnTo>
                  <a:pt x="5272" y="7"/>
                </a:lnTo>
                <a:lnTo>
                  <a:pt x="5503" y="21"/>
                </a:lnTo>
                <a:lnTo>
                  <a:pt x="5734" y="44"/>
                </a:lnTo>
                <a:lnTo>
                  <a:pt x="5734" y="658"/>
                </a:lnTo>
                <a:lnTo>
                  <a:pt x="0" y="658"/>
                </a:lnTo>
                <a:lnTo>
                  <a:pt x="0" y="355"/>
                </a:lnTo>
                <a:lnTo>
                  <a:pt x="179" y="399"/>
                </a:lnTo>
                <a:lnTo>
                  <a:pt x="359" y="430"/>
                </a:lnTo>
                <a:lnTo>
                  <a:pt x="541" y="453"/>
                </a:lnTo>
                <a:lnTo>
                  <a:pt x="725" y="467"/>
                </a:lnTo>
                <a:lnTo>
                  <a:pt x="911" y="472"/>
                </a:lnTo>
                <a:lnTo>
                  <a:pt x="1100" y="471"/>
                </a:lnTo>
                <a:lnTo>
                  <a:pt x="1289" y="462"/>
                </a:lnTo>
                <a:lnTo>
                  <a:pt x="1481" y="446"/>
                </a:lnTo>
                <a:lnTo>
                  <a:pt x="1674" y="427"/>
                </a:lnTo>
                <a:lnTo>
                  <a:pt x="1870" y="402"/>
                </a:lnTo>
                <a:lnTo>
                  <a:pt x="2068" y="373"/>
                </a:lnTo>
                <a:lnTo>
                  <a:pt x="2268" y="341"/>
                </a:lnTo>
                <a:lnTo>
                  <a:pt x="2469" y="308"/>
                </a:lnTo>
                <a:lnTo>
                  <a:pt x="2672" y="271"/>
                </a:lnTo>
                <a:lnTo>
                  <a:pt x="2879" y="236"/>
                </a:lnTo>
                <a:lnTo>
                  <a:pt x="3085" y="199"/>
                </a:lnTo>
                <a:lnTo>
                  <a:pt x="3295" y="164"/>
                </a:lnTo>
                <a:lnTo>
                  <a:pt x="3507" y="131"/>
                </a:lnTo>
                <a:lnTo>
                  <a:pt x="3721" y="100"/>
                </a:lnTo>
                <a:lnTo>
                  <a:pt x="3936" y="70"/>
                </a:lnTo>
                <a:lnTo>
                  <a:pt x="4153" y="45"/>
                </a:lnTo>
                <a:lnTo>
                  <a:pt x="4374" y="26"/>
                </a:lnTo>
                <a:lnTo>
                  <a:pt x="4594" y="10"/>
                </a:lnTo>
                <a:lnTo>
                  <a:pt x="4819" y="2"/>
                </a:lnTo>
                <a:lnTo>
                  <a:pt x="5044" y="0"/>
                </a:lnTo>
                <a:close/>
              </a:path>
            </a:pathLst>
          </a:custGeom>
          <a:solidFill>
            <a:srgbClr val="002060"/>
          </a:solidFill>
          <a:ln w="0">
            <a:noFill/>
            <a:prstDash val="solid"/>
            <a:round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 sz="996"/>
          </a:p>
        </p:txBody>
      </p:sp>
      <p:sp>
        <p:nvSpPr>
          <p:cNvPr id="4" name="矩形 259"/>
          <p:cNvSpPr>
            <a:spLocks noChangeArrowheads="1"/>
          </p:cNvSpPr>
          <p:nvPr/>
        </p:nvSpPr>
        <p:spPr bwMode="auto">
          <a:xfrm>
            <a:off x="1588831" y="1818950"/>
            <a:ext cx="5966339" cy="96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6258" b="1" cap="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Thank you</a:t>
            </a:r>
            <a:endParaRPr lang="zh-CN" altLang="en-US" sz="6258" b="1" cap="all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26017" y="2853259"/>
            <a:ext cx="2291967" cy="262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1707" b="1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感谢聆听，批评指导</a:t>
            </a:r>
          </a:p>
        </p:txBody>
      </p:sp>
    </p:spTree>
    <p:extLst>
      <p:ext uri="{BB962C8B-B14F-4D97-AF65-F5344CB8AC3E}">
        <p14:creationId xmlns:p14="http://schemas.microsoft.com/office/powerpoint/2010/main" val="729109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3000">
        <p15:prstTrans prst="crush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99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99"/>
                            </p:stCondLst>
                            <p:childTnLst>
                              <p:par>
                                <p:cTn id="2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99"/>
                            </p:stCondLst>
                            <p:childTnLst>
                              <p:par>
                                <p:cTn id="3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/>
      <p:bldP spid="4" grpId="1"/>
      <p:bldP spid="8" grpId="0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2019蓝色简约年度总结工作计划PPT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自定义 121">
      <a:dk1>
        <a:srgbClr val="1F1F1F"/>
      </a:dk1>
      <a:lt1>
        <a:srgbClr val="FFFFFF"/>
      </a:lt1>
      <a:dk2>
        <a:srgbClr val="454545"/>
      </a:dk2>
      <a:lt2>
        <a:srgbClr val="D8D8D8"/>
      </a:lt2>
      <a:accent1>
        <a:srgbClr val="9B1E11"/>
      </a:accent1>
      <a:accent2>
        <a:srgbClr val="736666"/>
      </a:accent2>
      <a:accent3>
        <a:srgbClr val="C1D842"/>
      </a:accent3>
      <a:accent4>
        <a:srgbClr val="4BACC6"/>
      </a:accent4>
      <a:accent5>
        <a:srgbClr val="F4CE3F"/>
      </a:accent5>
      <a:accent6>
        <a:srgbClr val="3F3F3F"/>
      </a:accent6>
      <a:hlink>
        <a:srgbClr val="222A35"/>
      </a:hlink>
      <a:folHlink>
        <a:srgbClr val="7F6000"/>
      </a:folHlink>
    </a:clrScheme>
    <a:fontScheme name="Lizzysu-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68580" tIns="34290" rIns="68580" bIns="34290" rtlCol="0">
        <a:spAutoFit/>
      </a:bodyPr>
      <a:lstStyle>
        <a:defPPr algn="ctr">
          <a:defRPr sz="3200" b="1" dirty="0">
            <a:solidFill>
              <a:srgbClr val="002060"/>
            </a:solidFill>
            <a:latin typeface="Source Han Sans Normal" panose="020B0400000000000000" pitchFamily="34" charset="-122"/>
            <a:ea typeface="Source Han Sans Normal" panose="020B0400000000000000" pitchFamily="34" charset="-122"/>
            <a:cs typeface="Ebrima" panose="02000000000000000000" pitchFamily="2" charset="0"/>
            <a:sym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21">
    <a:dk1>
      <a:srgbClr val="1F1F1F"/>
    </a:dk1>
    <a:lt1>
      <a:srgbClr val="FFFFFF"/>
    </a:lt1>
    <a:dk2>
      <a:srgbClr val="454545"/>
    </a:dk2>
    <a:lt2>
      <a:srgbClr val="D8D8D8"/>
    </a:lt2>
    <a:accent1>
      <a:srgbClr val="9B1E11"/>
    </a:accent1>
    <a:accent2>
      <a:srgbClr val="736666"/>
    </a:accent2>
    <a:accent3>
      <a:srgbClr val="C1D842"/>
    </a:accent3>
    <a:accent4>
      <a:srgbClr val="4BACC6"/>
    </a:accent4>
    <a:accent5>
      <a:srgbClr val="F4CE3F"/>
    </a:accent5>
    <a:accent6>
      <a:srgbClr val="3F3F3F"/>
    </a:accent6>
    <a:hlink>
      <a:srgbClr val="222A35"/>
    </a:hlink>
    <a:folHlink>
      <a:srgbClr val="7F6000"/>
    </a:folHlink>
  </a:clrScheme>
</a:themeOverride>
</file>

<file path=ppt/theme/themeOverride2.xml><?xml version="1.0" encoding="utf-8"?>
<a:themeOverride xmlns:a="http://schemas.openxmlformats.org/drawingml/2006/main">
  <a:clrScheme name="自定义 121">
    <a:dk1>
      <a:srgbClr val="1F1F1F"/>
    </a:dk1>
    <a:lt1>
      <a:srgbClr val="FFFFFF"/>
    </a:lt1>
    <a:dk2>
      <a:srgbClr val="454545"/>
    </a:dk2>
    <a:lt2>
      <a:srgbClr val="D8D8D8"/>
    </a:lt2>
    <a:accent1>
      <a:srgbClr val="9B1E11"/>
    </a:accent1>
    <a:accent2>
      <a:srgbClr val="736666"/>
    </a:accent2>
    <a:accent3>
      <a:srgbClr val="C1D842"/>
    </a:accent3>
    <a:accent4>
      <a:srgbClr val="4BACC6"/>
    </a:accent4>
    <a:accent5>
      <a:srgbClr val="F4CE3F"/>
    </a:accent5>
    <a:accent6>
      <a:srgbClr val="3F3F3F"/>
    </a:accent6>
    <a:hlink>
      <a:srgbClr val="222A35"/>
    </a:hlink>
    <a:folHlink>
      <a:srgbClr val="7F6000"/>
    </a:folHlink>
  </a:clrScheme>
</a:themeOverride>
</file>

<file path=ppt/theme/themeOverride3.xml><?xml version="1.0" encoding="utf-8"?>
<a:themeOverride xmlns:a="http://schemas.openxmlformats.org/drawingml/2006/main">
  <a:clrScheme name="自定义 121">
    <a:dk1>
      <a:srgbClr val="1F1F1F"/>
    </a:dk1>
    <a:lt1>
      <a:srgbClr val="FFFFFF"/>
    </a:lt1>
    <a:dk2>
      <a:srgbClr val="454545"/>
    </a:dk2>
    <a:lt2>
      <a:srgbClr val="D8D8D8"/>
    </a:lt2>
    <a:accent1>
      <a:srgbClr val="9B1E11"/>
    </a:accent1>
    <a:accent2>
      <a:srgbClr val="736666"/>
    </a:accent2>
    <a:accent3>
      <a:srgbClr val="C1D842"/>
    </a:accent3>
    <a:accent4>
      <a:srgbClr val="4BACC6"/>
    </a:accent4>
    <a:accent5>
      <a:srgbClr val="F4CE3F"/>
    </a:accent5>
    <a:accent6>
      <a:srgbClr val="3F3F3F"/>
    </a:accent6>
    <a:hlink>
      <a:srgbClr val="222A35"/>
    </a:hlink>
    <a:folHlink>
      <a:srgbClr val="7F6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1269</Words>
  <Application>Microsoft Office PowerPoint</Application>
  <PresentationFormat>全屏显示(16:9)</PresentationFormat>
  <Paragraphs>322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Source Han Sans Bold</vt:lpstr>
      <vt:lpstr>Source Han Sans Normal</vt:lpstr>
      <vt:lpstr>仿宋</vt:lpstr>
      <vt:lpstr>思源黑体 CN Bold</vt:lpstr>
      <vt:lpstr>思源黑体 CN Normal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2019蓝色简约年度总结工作计划PPT</dc:title>
  <dc:creator>常董</dc:creator>
  <cp:lastModifiedBy>Gao Junxiang</cp:lastModifiedBy>
  <cp:revision>2684</cp:revision>
  <dcterms:created xsi:type="dcterms:W3CDTF">2014-10-29T09:18:00Z</dcterms:created>
  <dcterms:modified xsi:type="dcterms:W3CDTF">2025-12-21T09:45:55Z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